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7" r:id="rId3"/>
    <p:sldId id="259" r:id="rId4"/>
    <p:sldId id="262" r:id="rId5"/>
    <p:sldId id="264" r:id="rId6"/>
    <p:sldId id="260" r:id="rId7"/>
    <p:sldId id="263" r:id="rId8"/>
    <p:sldId id="265" r:id="rId9"/>
    <p:sldId id="261" r:id="rId10"/>
    <p:sldId id="266" r:id="rId11"/>
  </p:sldIdLst>
  <p:sldSz cx="12192000" cy="6858000"/>
  <p:notesSz cx="6858000" cy="9144000"/>
  <p:defaultTextStyle>
    <a:defPPr>
      <a:defRPr lang="en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2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2"/>
  </p:normalViewPr>
  <p:slideViewPr>
    <p:cSldViewPr snapToGrid="0">
      <p:cViewPr>
        <p:scale>
          <a:sx n="109" d="100"/>
          <a:sy n="109" d="100"/>
        </p:scale>
        <p:origin x="320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1E99-4DA1-2618-19AB-020D10E12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FE061-A99E-59EA-15AD-DDC4FEA43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0AA1C-70A1-1308-8146-5F53A5DA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CBB65-99EF-2A50-4BC1-FB5BB0A3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B4363-9F6A-3B4B-D308-2FFF2142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59838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D70-0390-4526-55C3-D54140E1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5B75-B115-DB12-2EC9-A8AE85987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31A0-2CAB-5382-85F1-87E5A530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35680-9D8C-F1BF-4ECF-6A6397D3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5F8D-9EAA-1DFD-3A2C-90159021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64340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A171-2B9E-2C67-6ED2-6D47953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873CF-DE36-73E1-D450-CF6F5C93C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DE04-44C0-E8E0-BBFA-F70D74D6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439D7-F4FD-990A-773E-0AB6E7F1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E9F6-1661-9B0C-ED25-A94CB957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17342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B2E5-7A70-8A64-0FC9-54CDBA45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FE82-2B50-4411-875B-CEAE8B871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35AB7-F837-120A-FB5A-A236C2E6D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362CE-2391-EA9F-DA6A-B1BB961C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944F6-7F35-3661-2C1F-F7C87256C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4D6C8-AA3C-1225-07CA-CAA60FAA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5470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962C-CCCC-8EFD-5A1C-681D0CED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6A016-82CF-5627-EEBE-3860DDDCD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8A1A4-4922-B339-21F3-F41170A92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0A885-519F-4236-C8FC-B70964469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7C272-7A66-936E-892B-185FC74E2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E75C2-720A-6DF7-A210-B1A6B059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0F258-E3E9-52A4-D077-16715B87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81CD0-0F40-0EF5-EBCF-F62A299C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9222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22586-AE4C-4229-E2DD-31749276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76023-99B8-F943-86C5-625B68DC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63C82-9FB3-B433-8E27-41CA53D4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2D7C1-7290-C6AA-031F-6A61A79B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6858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DA33C-164D-594E-7A0C-706261CC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23010-8BFD-F916-5BA8-F51867281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75F3A-A21B-B9BF-BDD4-EEA42347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4274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BB7B-54EE-C6C6-2E54-939CECE95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51D0-A96E-84EB-B469-034C665EA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71135-C7E7-A330-D0C7-D371300E4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1E6A4-034C-227E-ED7F-AC740EF1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4F3E4-71AB-2FFA-8048-0326EB44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63110-1A26-3750-021E-88F57CC3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74367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9097-C110-62B7-7EDE-EE143363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0CDC3-5074-255B-C6BF-8D4CFEFCC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E5E94-428A-A30C-6F2D-96D3555BA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2D3CB-BD05-8C63-740A-F392E806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17BA7-6A4B-6355-2273-EA427AF9F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D1DF5-8968-5A6E-B48E-AFF9E95E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82362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35DE-A7FA-BD24-1CE3-E62E55F0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85DDB-8AA4-B0F4-BDE4-3BEC2BABB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B48ED-6540-A22F-4B30-63E47074F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989F0-30C7-8E0D-60AC-FA39F606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4BE7A-F8A4-95B5-05C2-31CF18C18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0614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CB27E-9CA6-27A2-DE32-22F73520F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3E127-67A6-CECB-1B5F-ACD57A0D7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7CB9A-D287-9E67-C4C4-0D6BB5F0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9C7D2-C791-EDA6-AD44-3DCFD03D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49011-A20D-0D8F-0E34-EA653694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9609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53C6E-5AE5-10BC-B1BB-795F58943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7AF3A-4E0E-FD34-C26D-AE0AB829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2F84-EA8E-AC29-1C7A-2B55823B5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4A37B-49F1-0042-AF3D-9B67A13E6B12}" type="datetimeFigureOut">
              <a:rPr lang="en-KH" smtClean="0"/>
              <a:t>6/1/26</a:t>
            </a:fld>
            <a:endParaRPr lang="en-K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F9B4-5D6D-8E2C-7938-94DE1B8DC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09C4-8D67-19BD-6EBD-6C5887F4A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D2B10-6DB6-EC42-ACEC-4F142D63058A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60926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D308C1-C71A-A4CB-843C-10EF5056B7A0}"/>
              </a:ext>
            </a:extLst>
          </p:cNvPr>
          <p:cNvSpPr/>
          <p:nvPr/>
        </p:nvSpPr>
        <p:spPr>
          <a:xfrm>
            <a:off x="0" y="0"/>
            <a:ext cx="3083165" cy="6858000"/>
          </a:xfrm>
          <a:prstGeom prst="rect">
            <a:avLst/>
          </a:prstGeom>
          <a:solidFill>
            <a:srgbClr val="1F3264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A9DCBC-7957-F905-E6A5-41CB2744511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263" y="844544"/>
            <a:ext cx="2359653" cy="25844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EBC6C18-A5B1-3DE0-7CCE-D3DB7B42AE04}"/>
              </a:ext>
            </a:extLst>
          </p:cNvPr>
          <p:cNvSpPr txBox="1">
            <a:spLocks/>
          </p:cNvSpPr>
          <p:nvPr/>
        </p:nvSpPr>
        <p:spPr>
          <a:xfrm>
            <a:off x="93795" y="4438380"/>
            <a:ext cx="2895573" cy="108509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KH" sz="3200">
                <a:solidFill>
                  <a:srgbClr val="FFFFFF"/>
                </a:solidFill>
              </a:rPr>
              <a:t>Book Series for Schools</a:t>
            </a:r>
            <a:endParaRPr lang="en-KH" sz="32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A2492-487B-5D99-8F9B-29A30190845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51179" y="1885155"/>
            <a:ext cx="2120412" cy="3234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B7A1B-EF26-F421-CB9A-01F67F5DC7D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39605" y="1408856"/>
            <a:ext cx="2828393" cy="37112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4165CBED-9C87-A3BB-D813-E8CEA63C233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36012" y="1408856"/>
            <a:ext cx="2851020" cy="37112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481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BDCB8-C666-BD08-66BB-F6F6B956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935C4B-BD65-2B28-F361-9046565AEA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FB7E92-87EE-3A98-EB6D-E78313B31846}"/>
              </a:ext>
            </a:extLst>
          </p:cNvPr>
          <p:cNvSpPr txBox="1"/>
          <p:nvPr/>
        </p:nvSpPr>
        <p:spPr>
          <a:xfrm>
            <a:off x="4961465" y="1187840"/>
            <a:ext cx="64269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Highlights:</a:t>
            </a:r>
          </a:p>
          <a:p>
            <a:endParaRPr lang="en-US" sz="2400" dirty="0"/>
          </a:p>
          <a:p>
            <a:r>
              <a:rPr lang="en-US" sz="2400" dirty="0"/>
              <a:t>The signature book that takes Multiple Intelligences to the next level.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Complete Framework Foundation: </a:t>
            </a:r>
            <a:r>
              <a:rPr lang="en-US" sz="2000" dirty="0"/>
              <a:t>Introduces 10 MIs + 9 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Fills in the Gap of MI: </a:t>
            </a:r>
            <a:r>
              <a:rPr lang="en-US" sz="2000" dirty="0"/>
              <a:t>Provides the missing aspect of </a:t>
            </a:r>
            <a:r>
              <a:rPr lang="en-US" sz="2000" i="1" dirty="0"/>
              <a:t>engagement </a:t>
            </a:r>
            <a:r>
              <a:rPr lang="en-US" sz="2000" dirty="0"/>
              <a:t>and the energy required to perform different types of activities.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Provides Language for What Teachers See: </a:t>
            </a:r>
            <a:r>
              <a:rPr lang="en-US" sz="2000" dirty="0"/>
              <a:t>Precise vocabulary for patterns they notice daily but can't name.</a:t>
            </a:r>
          </a:p>
        </p:txBody>
      </p:sp>
    </p:spTree>
    <p:extLst>
      <p:ext uri="{BB962C8B-B14F-4D97-AF65-F5344CB8AC3E}">
        <p14:creationId xmlns:p14="http://schemas.microsoft.com/office/powerpoint/2010/main" val="284156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DF2AD1-814A-D9A6-DC86-21CA18955DB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F1BE8-CBF8-DE73-AD3A-7907A8BE03DB}"/>
              </a:ext>
            </a:extLst>
          </p:cNvPr>
          <p:cNvSpPr txBox="1"/>
          <p:nvPr/>
        </p:nvSpPr>
        <p:spPr>
          <a:xfrm>
            <a:off x="4961465" y="1413063"/>
            <a:ext cx="642691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Benefits: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Immediate Recognition: </a:t>
            </a:r>
            <a:r>
              <a:rPr lang="en-US" sz="2000" dirty="0"/>
              <a:t>Readers recognize themselves and others on every page—patterns become visible instantly.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Cross-Context Clarity:</a:t>
            </a:r>
            <a:r>
              <a:rPr lang="en-US" sz="2000" dirty="0"/>
              <a:t> Applies to work, relationships, education—written so anyone can understand and use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Easy to Read and Understand:</a:t>
            </a:r>
            <a:r>
              <a:rPr lang="en-US" sz="2000" dirty="0"/>
              <a:t> Concise and profound—without the academic density.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Personal Utility: </a:t>
            </a:r>
            <a:r>
              <a:rPr lang="en-US" sz="2000" dirty="0"/>
              <a:t> Applicable to your own life—not just theory about others.</a:t>
            </a:r>
          </a:p>
        </p:txBody>
      </p:sp>
    </p:spTree>
    <p:extLst>
      <p:ext uri="{BB962C8B-B14F-4D97-AF65-F5344CB8AC3E}">
        <p14:creationId xmlns:p14="http://schemas.microsoft.com/office/powerpoint/2010/main" val="217659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9603-DD49-5B82-7866-296CE091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5154A0-5052-6CEC-78B9-34D11A817721}"/>
              </a:ext>
            </a:extLst>
          </p:cNvPr>
          <p:cNvSpPr txBox="1"/>
          <p:nvPr/>
        </p:nvSpPr>
        <p:spPr>
          <a:xfrm>
            <a:off x="5262396" y="1751617"/>
            <a:ext cx="6098058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Book Specifications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Format</a:t>
            </a:r>
            <a:r>
              <a:rPr lang="en-US" sz="2000" dirty="0"/>
              <a:t>: 6 × 9" trade paperback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Binding</a:t>
            </a:r>
            <a:r>
              <a:rPr lang="en-US" sz="2000" dirty="0"/>
              <a:t>: Perfect bound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Paper</a:t>
            </a:r>
            <a:r>
              <a:rPr lang="en-US" sz="2000" dirty="0"/>
              <a:t>: 60# Cream, uncoated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Cover</a:t>
            </a:r>
            <a:r>
              <a:rPr lang="en-US" sz="2000" dirty="0"/>
              <a:t>: Matte laminate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Target Audience</a:t>
            </a:r>
            <a:r>
              <a:rPr lang="en-US" sz="2000" dirty="0"/>
              <a:t>: General readers, school leadership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Est. Pages</a:t>
            </a:r>
            <a:r>
              <a:rPr lang="en-US" sz="2000" dirty="0"/>
              <a:t>: 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Suggested Retail</a:t>
            </a:r>
            <a:r>
              <a:rPr lang="en-US" sz="2000" dirty="0"/>
              <a:t>: $11.99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95D6B-83FC-41C2-AC0B-E2674D05B9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4012" y="1145845"/>
            <a:ext cx="2993068" cy="45663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364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6E4E-C6B0-AB7C-3E9B-9838B74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6ABC25-3964-BBDE-238D-C1F2885C9A6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0F8AE-D832-A7BC-1059-D32F06E51277}"/>
              </a:ext>
            </a:extLst>
          </p:cNvPr>
          <p:cNvSpPr txBox="1"/>
          <p:nvPr/>
        </p:nvSpPr>
        <p:spPr>
          <a:xfrm>
            <a:off x="5568654" y="1059120"/>
            <a:ext cx="60960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Highlights:</a:t>
            </a:r>
          </a:p>
          <a:p>
            <a:endParaRPr lang="en-US" sz="2400" dirty="0"/>
          </a:p>
          <a:p>
            <a:r>
              <a:rPr lang="en-US" sz="2400" dirty="0"/>
              <a:t>Actual words to use in common situations, plus safe documentation language.</a:t>
            </a:r>
          </a:p>
          <a:p>
            <a:pPr>
              <a:buNone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Language for Boundary Conversations: </a:t>
            </a:r>
            <a:r>
              <a:rPr lang="en-US" sz="2000" dirty="0"/>
              <a:t>Exact phrases to use with teachers, parents, administrators, and students.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What to Say vs. What Not to Say: </a:t>
            </a:r>
            <a:r>
              <a:rPr lang="en-US" sz="2000" dirty="0"/>
              <a:t>Contrast examples for documentation and explaining.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Scenarios in Action: </a:t>
            </a:r>
            <a:r>
              <a:rPr lang="en-US" sz="2000" dirty="0"/>
              <a:t>Concrete guidance to effectively orient and clarify.</a:t>
            </a:r>
            <a:endParaRPr lang="en-US" sz="2800" dirty="0"/>
          </a:p>
          <a:p>
            <a:pPr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752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33F9C5-0BCC-567B-AA7B-B4E08BC54DE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4ED45-0E7B-CAF8-6F46-583AB4655A5E}"/>
              </a:ext>
            </a:extLst>
          </p:cNvPr>
          <p:cNvSpPr txBox="1"/>
          <p:nvPr/>
        </p:nvSpPr>
        <p:spPr>
          <a:xfrm>
            <a:off x="5568654" y="920621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Benefits:</a:t>
            </a:r>
          </a:p>
          <a:p>
            <a:endParaRPr lang="en-US" sz="2400" dirty="0"/>
          </a:p>
          <a:p>
            <a:r>
              <a:rPr lang="en-US" sz="2000" dirty="0"/>
              <a:t>Protects counselors legally/ethically while giving them powerful language to support students.</a:t>
            </a:r>
          </a:p>
          <a:p>
            <a:pPr>
              <a:buNone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Ethical Protection &amp; Governance: </a:t>
            </a:r>
            <a:r>
              <a:rPr lang="en-US" sz="2000" dirty="0"/>
              <a:t>Defines best practices with MN, aligned with ASCA/ACA professional standards.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Orientation Without Intervention: </a:t>
            </a:r>
            <a:r>
              <a:rPr lang="en-US" sz="2000" dirty="0"/>
              <a:t>Encourages counselors to help students see patterns and mismatches.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Establishes Stewardship Role: </a:t>
            </a:r>
            <a:r>
              <a:rPr lang="en-US" sz="2000" dirty="0"/>
              <a:t>Positions counselors as ethical guardians who protect the framework from overreach.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721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3DF2-8AB5-66D0-772F-DEE4DF20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4D0891-621B-2FFC-65AA-86D6A24B65E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7346" y="653811"/>
            <a:ext cx="4230006" cy="55503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2231702-E794-8FD7-84EB-74F4A72DB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874728"/>
            <a:ext cx="530629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KH" altLang="en-KH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Specifications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KH" altLang="en-K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 </a:t>
            </a:r>
            <a:r>
              <a:rPr kumimoji="0" lang="en-KH" altLang="en-KH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8.5 × 11" workbook (Coil-bound)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60# White, uncoated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Matte laminate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School counselors, student support staff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~100-120 pages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Retail</a:t>
            </a:r>
            <a:r>
              <a:rPr kumimoji="0" lang="en-KH" altLang="en-KH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KH" altLang="en-KH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$29.95 (coil-bound)</a:t>
            </a:r>
            <a:endParaRPr kumimoji="0" lang="en-KH" altLang="en-KH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6FBE9-9D05-B1DF-FEBA-B2DC7DB8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EFBF5BD8-2718-A80F-C3CF-B63299A32F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CCE08-5684-32FE-F258-1FDF7D84E3CC}"/>
              </a:ext>
            </a:extLst>
          </p:cNvPr>
          <p:cNvSpPr txBox="1"/>
          <p:nvPr/>
        </p:nvSpPr>
        <p:spPr>
          <a:xfrm>
            <a:off x="5592119" y="1613117"/>
            <a:ext cx="6096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Highlights: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/>
              <a:t>1. The 9 Natures Mapped to Classroom Demands</a:t>
            </a:r>
          </a:p>
          <a:p>
            <a:pPr>
              <a:buNone/>
            </a:pPr>
            <a:r>
              <a:rPr lang="en-US" sz="2000" dirty="0"/>
              <a:t>Each nature shown with "what the classroom pulls for" + "when it feeds" vs "when it costs".</a:t>
            </a:r>
          </a:p>
          <a:p>
            <a:pPr>
              <a:buNone/>
            </a:pPr>
            <a:r>
              <a:rPr lang="en-US" sz="2000" b="1" dirty="0"/>
              <a:t>2. Classroom Moments: </a:t>
            </a:r>
            <a:r>
              <a:rPr lang="en-US" sz="2000" dirty="0"/>
              <a:t>Examples scripts that demonstrate group work, discussions, and activities.</a:t>
            </a:r>
          </a:p>
          <a:p>
            <a:pPr>
              <a:buNone/>
            </a:pPr>
            <a:r>
              <a:rPr lang="en-US" sz="2000" b="1" dirty="0"/>
              <a:t>3. "Language to Use / Avoid": </a:t>
            </a:r>
            <a:r>
              <a:rPr lang="en-US" sz="2000" dirty="0"/>
              <a:t>Contrast examples for conversations with teachers, students, and parents. </a:t>
            </a:r>
            <a:r>
              <a:rPr lang="en-US" sz="2000" b="1" dirty="0"/>
              <a:t>4. Quick Reference Guides: </a:t>
            </a:r>
            <a:r>
              <a:rPr lang="en-US" sz="2000" dirty="0"/>
              <a:t>One-page summaries of all 9 Natures and 10 Intelligences.</a:t>
            </a:r>
          </a:p>
        </p:txBody>
      </p:sp>
    </p:spTree>
    <p:extLst>
      <p:ext uri="{BB962C8B-B14F-4D97-AF65-F5344CB8AC3E}">
        <p14:creationId xmlns:p14="http://schemas.microsoft.com/office/powerpoint/2010/main" val="3473910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C912939A-FAE2-A9F5-3DE5-041901B7C14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D39BBD-50A8-C7B6-EEFA-B41A0FC6E6B3}"/>
              </a:ext>
            </a:extLst>
          </p:cNvPr>
          <p:cNvSpPr txBox="1"/>
          <p:nvPr/>
        </p:nvSpPr>
        <p:spPr>
          <a:xfrm>
            <a:off x="5592119" y="1289952"/>
            <a:ext cx="6096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Benefits: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Helps teachers understand why students struggle and succeed—without adding new programs.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Stronger Student Insights:</a:t>
            </a:r>
            <a:r>
              <a:rPr lang="en-US" sz="2000" dirty="0"/>
              <a:t> Helps see beyond the "lazy" and "not motivated" labels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Language They Already Understand:</a:t>
            </a:r>
            <a:r>
              <a:rPr lang="en-US" sz="2000" dirty="0"/>
              <a:t> Names patterns they see daily but can’t easily explain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 New Strategies Required:</a:t>
            </a:r>
            <a:r>
              <a:rPr lang="en-US" sz="2000" dirty="0"/>
              <a:t> Just clearer seeing—not another thing to implement</a:t>
            </a:r>
          </a:p>
        </p:txBody>
      </p:sp>
    </p:spTree>
    <p:extLst>
      <p:ext uri="{BB962C8B-B14F-4D97-AF65-F5344CB8AC3E}">
        <p14:creationId xmlns:p14="http://schemas.microsoft.com/office/powerpoint/2010/main" val="3417749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59CD-05CC-0C78-3E5F-1C631178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books with text and images&#10;&#10;AI-generated content may be incorrect.">
            <a:extLst>
              <a:ext uri="{FF2B5EF4-FFF2-40B4-BE49-F238E27FC236}">
                <a16:creationId xmlns:a16="http://schemas.microsoft.com/office/drawing/2014/main" id="{5B583DC7-8CCB-1C17-8818-C8B7FD13C47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3881" y="646334"/>
            <a:ext cx="4275332" cy="5565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85188A5-F9E8-D8CA-6CFB-439C40A7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991" y="2090172"/>
            <a:ext cx="61791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 </a:t>
            </a:r>
            <a:r>
              <a:rPr kumimoji="0" lang="en-KH" altLang="en-KH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8.5 × 11" workbook (Coil-bound)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60# White, uncoated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Matte laminate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Audience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Classroom teachers, curriculum coordinators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KH" altLang="en-KH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Suggested Retail</a:t>
            </a:r>
            <a:r>
              <a:rPr kumimoji="0" lang="en-KH" altLang="en-K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$34.95</a:t>
            </a:r>
          </a:p>
        </p:txBody>
      </p:sp>
    </p:spTree>
    <p:extLst>
      <p:ext uri="{BB962C8B-B14F-4D97-AF65-F5344CB8AC3E}">
        <p14:creationId xmlns:p14="http://schemas.microsoft.com/office/powerpoint/2010/main" val="3098893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5495</TotalTime>
  <Words>541</Words>
  <Application>Microsoft Macintosh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Rudolph</dc:creator>
  <cp:lastModifiedBy>Steven Rudolph</cp:lastModifiedBy>
  <cp:revision>4</cp:revision>
  <dcterms:created xsi:type="dcterms:W3CDTF">2026-01-06T12:48:31Z</dcterms:created>
  <dcterms:modified xsi:type="dcterms:W3CDTF">2026-01-10T08:24:06Z</dcterms:modified>
</cp:coreProperties>
</file>